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Montserrat"/>
      <p:regular r:id="rId35"/>
      <p:bold r:id="rId36"/>
      <p:italic r:id="rId37"/>
      <p:boldItalic r:id="rId38"/>
    </p:embeddedFont>
    <p:embeddedFont>
      <p:font typeface="Lexend"/>
      <p:regular r:id="rId39"/>
      <p:bold r:id="rId40"/>
    </p:embeddedFont>
    <p:embeddedFont>
      <p:font typeface="Roboto Mono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1CF4294-7817-49FD-867B-D07433F467E4}">
  <a:tblStyle styleId="{41CF4294-7817-49FD-867B-D07433F467E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exend-bold.fntdata"/><Relationship Id="rId20" Type="http://schemas.openxmlformats.org/officeDocument/2006/relationships/slide" Target="slides/slide14.xml"/><Relationship Id="rId42" Type="http://schemas.openxmlformats.org/officeDocument/2006/relationships/font" Target="fonts/RobotoMono-bold.fntdata"/><Relationship Id="rId41" Type="http://schemas.openxmlformats.org/officeDocument/2006/relationships/font" Target="fonts/RobotoMono-regular.fntdata"/><Relationship Id="rId22" Type="http://schemas.openxmlformats.org/officeDocument/2006/relationships/slide" Target="slides/slide16.xml"/><Relationship Id="rId44" Type="http://schemas.openxmlformats.org/officeDocument/2006/relationships/font" Target="fonts/RobotoMono-boldItalic.fntdata"/><Relationship Id="rId21" Type="http://schemas.openxmlformats.org/officeDocument/2006/relationships/slide" Target="slides/slide15.xml"/><Relationship Id="rId43" Type="http://schemas.openxmlformats.org/officeDocument/2006/relationships/font" Target="fonts/RobotoMono-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Montserrat-regular.fntdata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font" Target="fonts/Montserrat-italic.fntdata"/><Relationship Id="rId14" Type="http://schemas.openxmlformats.org/officeDocument/2006/relationships/slide" Target="slides/slide8.xml"/><Relationship Id="rId36" Type="http://schemas.openxmlformats.org/officeDocument/2006/relationships/font" Target="fonts/Montserrat-bold.fntdata"/><Relationship Id="rId17" Type="http://schemas.openxmlformats.org/officeDocument/2006/relationships/slide" Target="slides/slide11.xml"/><Relationship Id="rId39" Type="http://schemas.openxmlformats.org/officeDocument/2006/relationships/font" Target="fonts/Lexend-regular.fntdata"/><Relationship Id="rId16" Type="http://schemas.openxmlformats.org/officeDocument/2006/relationships/slide" Target="slides/slide10.xml"/><Relationship Id="rId38" Type="http://schemas.openxmlformats.org/officeDocument/2006/relationships/font" Target="fonts/Montserrat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659e2776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659e2776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8caa434d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c8caa434d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8f8a25a62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8f8a25a62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is a programming language for: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Python is general-purpose; R is statistics-first.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It shines in: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Academic research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exploration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Statistical modelling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Visualization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In industry: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Used in healthcare, finance, sports analytics, social sciences.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8fa3032d4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8fa3032d4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 is a programming language for: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Visualization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—------------------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Python is general-purpose; R is statistics-first.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shines in: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Academic research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Data exploration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Statistical modelling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Visualization</a:t>
            </a:r>
            <a:br>
              <a:rPr lang="en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industry:</a:t>
            </a:r>
            <a:br>
              <a:rPr lang="en"/>
            </a:b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/>
              <a:t>Used in healthcare, finance, sports analytics, social sciences.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8f8a25a62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8f8a25a62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c8cbc532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c8cbc532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c8fa3032d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c8fa3032d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8fa3032d4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8fa3032d4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c8fa3032d4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c8fa3032d4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str() - string value of a field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8fa3032d4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8fa3032d4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data to get a subset of itv hbya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ab6b1df39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2" name="Google Shape;212;g3cab6b1df39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data to get a subset of itv hbya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cab6b1df3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cab6b1df3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data to get a subset of itv hbya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ab6b1df3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cab6b1df3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data to get a subset of itv hbya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ab6b1df39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ab6b1df39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Filter data to get a subset of itv hbya</a:t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ab6b1df39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ab6b1df39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this knowledge, you can now add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cab6b1df3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cab6b1df3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978e4b3b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978e4b3b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978e4b3b2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978e4b3b2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9855dc2a2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c9855dc2a2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c8fa3032d4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c8fa3032d4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c8fa3032d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c8fa3032d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c9855dc2a2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c9855dc2a2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c9855dc2a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c9855dc2a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9855dc2a2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0" name="Google Shape;360;g3c9855dc2a2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c9855dc2a2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c9855dc2a2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c9855dc2a2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7" name="Google Shape;377;g3c9855dc2a2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c9855dc2a2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c9855dc2a2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/>
          <p:nvPr/>
        </p:nvSpPr>
        <p:spPr>
          <a:xfrm>
            <a:off x="234450" y="211775"/>
            <a:ext cx="8675100" cy="4696800"/>
          </a:xfrm>
          <a:prstGeom prst="rect">
            <a:avLst/>
          </a:prstGeom>
          <a:noFill/>
          <a:ln cap="flat" cmpd="sng" w="3810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" name="Google Shape;10;p1"/>
          <p:cNvCxnSpPr/>
          <p:nvPr/>
        </p:nvCxnSpPr>
        <p:spPr>
          <a:xfrm>
            <a:off x="233850" y="192825"/>
            <a:ext cx="0" cy="4733700"/>
          </a:xfrm>
          <a:prstGeom prst="straightConnector1">
            <a:avLst/>
          </a:prstGeom>
          <a:noFill/>
          <a:ln cap="flat" cmpd="sng" w="38100">
            <a:solidFill>
              <a:srgbClr val="45A63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" name="Google Shape;11;p1"/>
          <p:cNvCxnSpPr/>
          <p:nvPr/>
        </p:nvCxnSpPr>
        <p:spPr>
          <a:xfrm>
            <a:off x="8909550" y="192825"/>
            <a:ext cx="0" cy="4733700"/>
          </a:xfrm>
          <a:prstGeom prst="straightConnector1">
            <a:avLst/>
          </a:prstGeom>
          <a:noFill/>
          <a:ln cap="flat" cmpd="sng" w="38100">
            <a:solidFill>
              <a:srgbClr val="182F4D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" name="Google Shape;12;p1"/>
          <p:cNvCxnSpPr/>
          <p:nvPr/>
        </p:nvCxnSpPr>
        <p:spPr>
          <a:xfrm rot="10800000">
            <a:off x="213000" y="4906175"/>
            <a:ext cx="8703300" cy="2400"/>
          </a:xfrm>
          <a:prstGeom prst="straightConnector1">
            <a:avLst/>
          </a:prstGeom>
          <a:noFill/>
          <a:ln cap="flat" cmpd="sng" w="38100">
            <a:solidFill>
              <a:srgbClr val="DF694E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hyperlink" Target="https://cran.r-project.org/bin/windows/base/" TargetMode="External"/><Relationship Id="rId9" Type="http://schemas.openxmlformats.org/officeDocument/2006/relationships/image" Target="../media/image1.png"/><Relationship Id="rId5" Type="http://schemas.openxmlformats.org/officeDocument/2006/relationships/hyperlink" Target="https://posit.co/download/rstudio-desktop/" TargetMode="External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/>
          <p:nvPr/>
        </p:nvSpPr>
        <p:spPr>
          <a:xfrm>
            <a:off x="1650900" y="4066275"/>
            <a:ext cx="6381600" cy="606300"/>
          </a:xfrm>
          <a:prstGeom prst="roundRect">
            <a:avLst>
              <a:gd fmla="val 16667" name="adj"/>
            </a:avLst>
          </a:prstGeom>
          <a:solidFill>
            <a:srgbClr val="182F4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3460500" y="1203750"/>
            <a:ext cx="4511100" cy="9417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1792500" y="4066275"/>
            <a:ext cx="6179100" cy="64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By: Joaquin Villar, Roshan Prabhu</a:t>
            </a:r>
            <a:r>
              <a:rPr b="1" lang="en">
                <a:solidFill>
                  <a:srgbClr val="DF694E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b="1">
              <a:solidFill>
                <a:srgbClr val="DF694E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61" name="Google Shape;61;p13" title="Data Science Society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5300" y="2308475"/>
            <a:ext cx="1576424" cy="1285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b="15523" l="15422" r="12270" t="15516"/>
          <a:stretch/>
        </p:blipFill>
        <p:spPr>
          <a:xfrm>
            <a:off x="1223400" y="2519463"/>
            <a:ext cx="1981000" cy="99817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3"/>
          <p:cNvSpPr txBox="1"/>
          <p:nvPr/>
        </p:nvSpPr>
        <p:spPr>
          <a:xfrm>
            <a:off x="6356075" y="2134325"/>
            <a:ext cx="1524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rPr>
              <a:t>24/02/2026</a:t>
            </a:r>
            <a:endParaRPr sz="1800">
              <a:solidFill>
                <a:schemeClr val="dk2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" name="Google Shape;64;p13"/>
          <p:cNvSpPr txBox="1"/>
          <p:nvPr>
            <p:ph type="ctrTitle"/>
          </p:nvPr>
        </p:nvSpPr>
        <p:spPr>
          <a:xfrm>
            <a:off x="3460525" y="1350000"/>
            <a:ext cx="4511100" cy="7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R Workshop</a:t>
            </a:r>
            <a:endParaRPr b="1"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4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4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/>
        </p:nvSpPr>
        <p:spPr>
          <a:xfrm>
            <a:off x="4673473" y="1961965"/>
            <a:ext cx="4072200" cy="49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Visualisation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Making a Linear Regression Model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14"/>
          <p:cNvSpPr txBox="1"/>
          <p:nvPr/>
        </p:nvSpPr>
        <p:spPr>
          <a:xfrm>
            <a:off x="1262875" y="1533875"/>
            <a:ext cx="3539100" cy="34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AutoNum type="arabicPeriod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What is R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AutoNum type="arabicPeriod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Why R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4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AutoNum type="arabicPeriod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Basics of R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3" name="Google Shape;73;p14"/>
          <p:cNvGrpSpPr/>
          <p:nvPr/>
        </p:nvGrpSpPr>
        <p:grpSpPr>
          <a:xfrm>
            <a:off x="1335148" y="1554363"/>
            <a:ext cx="307980" cy="354373"/>
            <a:chOff x="4066050" y="1556775"/>
            <a:chExt cx="652500" cy="652500"/>
          </a:xfrm>
        </p:grpSpPr>
        <p:sp>
          <p:nvSpPr>
            <p:cNvPr id="74" name="Google Shape;74;p14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0"/>
            </a:p>
          </p:txBody>
        </p:sp>
        <p:sp>
          <p:nvSpPr>
            <p:cNvPr id="75" name="Google Shape;75;p14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9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1629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6" name="Google Shape;76;p14"/>
          <p:cNvGrpSpPr/>
          <p:nvPr/>
        </p:nvGrpSpPr>
        <p:grpSpPr>
          <a:xfrm>
            <a:off x="1335155" y="2402459"/>
            <a:ext cx="307980" cy="354373"/>
            <a:chOff x="4066050" y="1556775"/>
            <a:chExt cx="652500" cy="652500"/>
          </a:xfrm>
        </p:grpSpPr>
        <p:sp>
          <p:nvSpPr>
            <p:cNvPr id="77" name="Google Shape;77;p14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0"/>
            </a:p>
          </p:txBody>
        </p:sp>
        <p:sp>
          <p:nvSpPr>
            <p:cNvPr id="78" name="Google Shape;78;p14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9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1629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" name="Google Shape;79;p14"/>
          <p:cNvGrpSpPr/>
          <p:nvPr/>
        </p:nvGrpSpPr>
        <p:grpSpPr>
          <a:xfrm>
            <a:off x="1335155" y="3250559"/>
            <a:ext cx="307980" cy="354373"/>
            <a:chOff x="4066050" y="1556775"/>
            <a:chExt cx="652500" cy="652500"/>
          </a:xfrm>
        </p:grpSpPr>
        <p:sp>
          <p:nvSpPr>
            <p:cNvPr id="80" name="Google Shape;80;p14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0"/>
            </a:p>
          </p:txBody>
        </p:sp>
        <p:sp>
          <p:nvSpPr>
            <p:cNvPr id="81" name="Google Shape;81;p14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9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1629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" name="Google Shape;82;p14"/>
          <p:cNvGrpSpPr/>
          <p:nvPr/>
        </p:nvGrpSpPr>
        <p:grpSpPr>
          <a:xfrm>
            <a:off x="4755945" y="1982461"/>
            <a:ext cx="354373" cy="354373"/>
            <a:chOff x="4066050" y="1556775"/>
            <a:chExt cx="652500" cy="652500"/>
          </a:xfrm>
        </p:grpSpPr>
        <p:sp>
          <p:nvSpPr>
            <p:cNvPr id="83" name="Google Shape;83;p14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0"/>
            </a:p>
          </p:txBody>
        </p:sp>
        <p:sp>
          <p:nvSpPr>
            <p:cNvPr id="84" name="Google Shape;84;p14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9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1629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" name="Google Shape;85;p14"/>
          <p:cNvGrpSpPr/>
          <p:nvPr/>
        </p:nvGrpSpPr>
        <p:grpSpPr>
          <a:xfrm>
            <a:off x="4755945" y="2830549"/>
            <a:ext cx="354373" cy="354373"/>
            <a:chOff x="4066050" y="1556775"/>
            <a:chExt cx="652500" cy="652500"/>
          </a:xfrm>
        </p:grpSpPr>
        <p:sp>
          <p:nvSpPr>
            <p:cNvPr id="86" name="Google Shape;86;p14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760"/>
            </a:p>
          </p:txBody>
        </p:sp>
        <p:sp>
          <p:nvSpPr>
            <p:cNvPr id="87" name="Google Shape;87;p14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9650" lIns="49650" spcFirstLastPara="1" rIns="49650" wrap="square" tIns="496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629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b="1" sz="1629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cxnSp>
        <p:nvCxnSpPr>
          <p:cNvPr id="88" name="Google Shape;88;p14"/>
          <p:cNvCxnSpPr>
            <a:endCxn id="78" idx="0"/>
          </p:cNvCxnSpPr>
          <p:nvPr/>
        </p:nvCxnSpPr>
        <p:spPr>
          <a:xfrm flipH="1">
            <a:off x="1489145" y="1910459"/>
            <a:ext cx="1800" cy="492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" name="Google Shape;89;p14"/>
          <p:cNvCxnSpPr/>
          <p:nvPr/>
        </p:nvCxnSpPr>
        <p:spPr>
          <a:xfrm flipH="1">
            <a:off x="4932094" y="2338549"/>
            <a:ext cx="2100" cy="492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0" name="Google Shape;90;p14"/>
          <p:cNvCxnSpPr/>
          <p:nvPr/>
        </p:nvCxnSpPr>
        <p:spPr>
          <a:xfrm flipH="1">
            <a:off x="1489149" y="2756834"/>
            <a:ext cx="1800" cy="492000"/>
          </a:xfrm>
          <a:prstGeom prst="straightConnector1">
            <a:avLst/>
          </a:prstGeom>
          <a:noFill/>
          <a:ln cap="flat" cmpd="sng" w="9525">
            <a:solidFill>
              <a:srgbClr val="9E9E9E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" name="Google Shape;91;p14"/>
          <p:cNvSpPr txBox="1"/>
          <p:nvPr/>
        </p:nvSpPr>
        <p:spPr>
          <a:xfrm>
            <a:off x="621125" y="627525"/>
            <a:ext cx="33279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Table of Contents</a:t>
            </a:r>
            <a:endParaRPr b="1" sz="27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5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5"/>
          <p:cNvSpPr txBox="1"/>
          <p:nvPr/>
        </p:nvSpPr>
        <p:spPr>
          <a:xfrm>
            <a:off x="2281950" y="2679650"/>
            <a:ext cx="4580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What is R?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5"/>
          <p:cNvSpPr txBox="1"/>
          <p:nvPr/>
        </p:nvSpPr>
        <p:spPr>
          <a:xfrm>
            <a:off x="2644350" y="1390950"/>
            <a:ext cx="3855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01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9" name="Google Shape;99;p15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6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6"/>
          <p:cNvSpPr txBox="1"/>
          <p:nvPr/>
        </p:nvSpPr>
        <p:spPr>
          <a:xfrm>
            <a:off x="621125" y="627525"/>
            <a:ext cx="2620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What is R?</a:t>
            </a:r>
            <a:endParaRPr b="1" sz="34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621115" y="1405798"/>
            <a:ext cx="5232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Open-source &amp; Powerful ecosystem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Initially created for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statisticians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 -&gt; but now used by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Data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scientists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Researchers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Analysts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AI &amp; ML developers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7" name="Google Shape;107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">
            <a:off x="678184" y="2841376"/>
            <a:ext cx="2506079" cy="18281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000" y="2263750"/>
            <a:ext cx="4072499" cy="240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335725" y="704750"/>
            <a:ext cx="485701" cy="42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 title="Data Science Society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7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7"/>
          <p:cNvSpPr txBox="1"/>
          <p:nvPr/>
        </p:nvSpPr>
        <p:spPr>
          <a:xfrm>
            <a:off x="621125" y="627525"/>
            <a:ext cx="26202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Why R?</a:t>
            </a:r>
            <a:endParaRPr b="1" sz="34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7"/>
          <p:cNvSpPr txBox="1"/>
          <p:nvPr/>
        </p:nvSpPr>
        <p:spPr>
          <a:xfrm>
            <a:off x="765875" y="1648325"/>
            <a:ext cx="63345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Specialized for Statistics: Unlike general-purpose languages, R was built specifically for data analysis and statistical computing.</a:t>
            </a:r>
            <a:b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Superior Data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Visualisation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: Includes powerful libraries like ggplot2 for creating publication-quality graphics.</a:t>
            </a:r>
            <a:b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Comprehensive Ecosystem: Access to over 18,000 packages via CRAN for everything from econometrics to machine learning.</a:t>
            </a:r>
            <a:b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</a:b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Data Handling: Native support for data frames and vectorized operations makes cleaning and manipulating data highly efficient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8" name="Google Shape;11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6948" y="704750"/>
            <a:ext cx="485701" cy="42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7" title="Data Science Societ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74050" y="704750"/>
            <a:ext cx="1296275" cy="105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8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8"/>
          <p:cNvSpPr txBox="1"/>
          <p:nvPr/>
        </p:nvSpPr>
        <p:spPr>
          <a:xfrm>
            <a:off x="621125" y="627525"/>
            <a:ext cx="4573500" cy="6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4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How to download R</a:t>
            </a:r>
            <a:endParaRPr b="1" sz="34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" name="Google Shape;126;p18"/>
          <p:cNvSpPr txBox="1"/>
          <p:nvPr/>
        </p:nvSpPr>
        <p:spPr>
          <a:xfrm>
            <a:off x="621127" y="1405800"/>
            <a:ext cx="6117300" cy="13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Download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 R: </a:t>
            </a:r>
            <a:r>
              <a:rPr lang="en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4"/>
              </a:rPr>
              <a:t>https://cran.r-project.org/bin/windows/base/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R Studio (IDE): </a:t>
            </a:r>
            <a:r>
              <a:rPr lang="en" u="sng">
                <a:solidFill>
                  <a:schemeClr val="hlink"/>
                </a:solidFill>
                <a:latin typeface="Lexend"/>
                <a:ea typeface="Lexend"/>
                <a:cs typeface="Lexend"/>
                <a:sym typeface="Lexend"/>
                <a:hlinkClick r:id="rId5"/>
              </a:rPr>
              <a:t>https://posit.co/download/rstudio-desktop/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7" name="Google Shape;127;p18" title="Data Science Society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404474" y="2045675"/>
            <a:ext cx="3931524" cy="2783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55350" y="2110925"/>
            <a:ext cx="5189649" cy="2461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8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rot="-266577">
            <a:off x="2505450" y="2118351"/>
            <a:ext cx="3931526" cy="2759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9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9"/>
          <p:cNvSpPr txBox="1"/>
          <p:nvPr/>
        </p:nvSpPr>
        <p:spPr>
          <a:xfrm>
            <a:off x="2281950" y="2679650"/>
            <a:ext cx="4580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Basics of R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2644350" y="1390950"/>
            <a:ext cx="3855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02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9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473275" y="529450"/>
            <a:ext cx="25131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Basics of R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826300" y="18745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Creating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Dataframes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3315450" y="1874600"/>
            <a:ext cx="25131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Accessing the Data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6167475" y="18390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Data 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Manipulation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1947600" y="34584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Data Analysis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4780225" y="34582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Data Visualization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50" name="Google Shape;150;p20"/>
          <p:cNvGrpSpPr/>
          <p:nvPr/>
        </p:nvGrpSpPr>
        <p:grpSpPr>
          <a:xfrm>
            <a:off x="1475783" y="1283270"/>
            <a:ext cx="744633" cy="744568"/>
            <a:chOff x="4066050" y="1556775"/>
            <a:chExt cx="652500" cy="652500"/>
          </a:xfrm>
        </p:grpSpPr>
        <p:sp>
          <p:nvSpPr>
            <p:cNvPr id="151" name="Google Shape;151;p20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97"/>
            </a:p>
          </p:txBody>
        </p:sp>
        <p:sp>
          <p:nvSpPr>
            <p:cNvPr id="152" name="Google Shape;152;p20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23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1</a:t>
              </a:r>
              <a:endParaRPr b="1" sz="342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" name="Google Shape;153;p20"/>
          <p:cNvGrpSpPr/>
          <p:nvPr/>
        </p:nvGrpSpPr>
        <p:grpSpPr>
          <a:xfrm>
            <a:off x="4199683" y="1283270"/>
            <a:ext cx="744633" cy="744568"/>
            <a:chOff x="4066050" y="1556775"/>
            <a:chExt cx="652500" cy="652500"/>
          </a:xfrm>
        </p:grpSpPr>
        <p:sp>
          <p:nvSpPr>
            <p:cNvPr id="154" name="Google Shape;154;p20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97"/>
            </a:p>
          </p:txBody>
        </p:sp>
        <p:sp>
          <p:nvSpPr>
            <p:cNvPr id="155" name="Google Shape;155;p20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23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2</a:t>
              </a:r>
              <a:endParaRPr b="1" sz="342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6" name="Google Shape;156;p20"/>
          <p:cNvGrpSpPr/>
          <p:nvPr/>
        </p:nvGrpSpPr>
        <p:grpSpPr>
          <a:xfrm>
            <a:off x="6816958" y="1283270"/>
            <a:ext cx="744633" cy="744568"/>
            <a:chOff x="4066050" y="1556775"/>
            <a:chExt cx="652500" cy="652500"/>
          </a:xfrm>
        </p:grpSpPr>
        <p:sp>
          <p:nvSpPr>
            <p:cNvPr id="157" name="Google Shape;157;p20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97"/>
            </a:p>
          </p:txBody>
        </p:sp>
        <p:sp>
          <p:nvSpPr>
            <p:cNvPr id="158" name="Google Shape;158;p20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23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3</a:t>
              </a:r>
              <a:endParaRPr b="1" sz="342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9" name="Google Shape;159;p20"/>
          <p:cNvGrpSpPr/>
          <p:nvPr/>
        </p:nvGrpSpPr>
        <p:grpSpPr>
          <a:xfrm>
            <a:off x="2597083" y="2884695"/>
            <a:ext cx="744633" cy="744568"/>
            <a:chOff x="4066050" y="1556775"/>
            <a:chExt cx="652500" cy="652500"/>
          </a:xfrm>
        </p:grpSpPr>
        <p:sp>
          <p:nvSpPr>
            <p:cNvPr id="160" name="Google Shape;160;p20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97"/>
            </a:p>
          </p:txBody>
        </p:sp>
        <p:sp>
          <p:nvSpPr>
            <p:cNvPr id="161" name="Google Shape;161;p20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23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4</a:t>
              </a:r>
              <a:endParaRPr b="1" sz="342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2" name="Google Shape;162;p20"/>
          <p:cNvGrpSpPr/>
          <p:nvPr/>
        </p:nvGrpSpPr>
        <p:grpSpPr>
          <a:xfrm>
            <a:off x="5429708" y="2884695"/>
            <a:ext cx="744633" cy="744568"/>
            <a:chOff x="4066050" y="1556775"/>
            <a:chExt cx="652500" cy="652500"/>
          </a:xfrm>
        </p:grpSpPr>
        <p:sp>
          <p:nvSpPr>
            <p:cNvPr id="163" name="Google Shape;163;p20"/>
            <p:cNvSpPr/>
            <p:nvPr/>
          </p:nvSpPr>
          <p:spPr>
            <a:xfrm>
              <a:off x="4066050" y="1556775"/>
              <a:ext cx="652500" cy="652500"/>
            </a:xfrm>
            <a:prstGeom prst="ellipse">
              <a:avLst/>
            </a:prstGeom>
            <a:solidFill>
              <a:srgbClr val="45A634"/>
            </a:solidFill>
            <a:ln>
              <a:noFill/>
            </a:ln>
          </p:spPr>
          <p:txBody>
            <a:bodyPr anchorCtr="0" anchor="ctr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597"/>
            </a:p>
          </p:txBody>
        </p:sp>
        <p:sp>
          <p:nvSpPr>
            <p:cNvPr id="164" name="Google Shape;164;p20"/>
            <p:cNvSpPr txBox="1"/>
            <p:nvPr/>
          </p:nvSpPr>
          <p:spPr>
            <a:xfrm>
              <a:off x="4066050" y="1556775"/>
              <a:ext cx="652500" cy="6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104325" lIns="104325" spcFirstLastPara="1" rIns="104325" wrap="square" tIns="1043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3423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5</a:t>
              </a:r>
              <a:endParaRPr b="1" sz="3423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5" name="Google Shape;165;p20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64" y="744575"/>
            <a:ext cx="1031136" cy="84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p21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1"/>
          <p:cNvSpPr txBox="1"/>
          <p:nvPr/>
        </p:nvSpPr>
        <p:spPr>
          <a:xfrm>
            <a:off x="473275" y="529450"/>
            <a:ext cx="25131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Dataframes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72" name="Google Shape;172;p21"/>
          <p:cNvGraphicFramePr/>
          <p:nvPr/>
        </p:nvGraphicFramePr>
        <p:xfrm>
          <a:off x="657325" y="1681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{41CF4294-7817-49FD-867B-D07433F467E4}</a:tableStyleId>
              </a:tblPr>
              <a:tblGrid>
                <a:gridCol w="2944150"/>
                <a:gridCol w="2348800"/>
                <a:gridCol w="2536375"/>
              </a:tblGrid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hours_studied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attendance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exam_score</a:t>
                      </a:r>
                      <a:endParaRPr b="1" sz="1100"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50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4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70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3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55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33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85</a:t>
                      </a:r>
                      <a:endParaRPr/>
                    </a:p>
                  </a:txBody>
                  <a:tcPr marT="76200" marB="76200" marR="76200" marL="76200">
                    <a:lnL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DDDD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73" name="Google Shape;173;p21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613200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Viewing / Accessing Data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2"/>
          <p:cNvSpPr/>
          <p:nvPr/>
        </p:nvSpPr>
        <p:spPr>
          <a:xfrm>
            <a:off x="704625" y="197042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print()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1" name="Google Shape;181;p22"/>
          <p:cNvSpPr/>
          <p:nvPr/>
        </p:nvSpPr>
        <p:spPr>
          <a:xfrm>
            <a:off x="2290775" y="197042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head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3824825" y="197042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tail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5380896" y="197042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str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2"/>
          <p:cNvSpPr/>
          <p:nvPr/>
        </p:nvSpPr>
        <p:spPr>
          <a:xfrm>
            <a:off x="6906888" y="1970425"/>
            <a:ext cx="17451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2"/>
          <p:cNvSpPr txBox="1"/>
          <p:nvPr/>
        </p:nvSpPr>
        <p:spPr>
          <a:xfrm>
            <a:off x="639422" y="1466659"/>
            <a:ext cx="1310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Viewing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654493" y="2852301"/>
            <a:ext cx="2122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Accessing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2"/>
          <p:cNvSpPr/>
          <p:nvPr/>
        </p:nvSpPr>
        <p:spPr>
          <a:xfrm>
            <a:off x="774870" y="3388375"/>
            <a:ext cx="3366000" cy="6525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dataFrame$columnName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2"/>
          <p:cNvSpPr/>
          <p:nvPr/>
        </p:nvSpPr>
        <p:spPr>
          <a:xfrm>
            <a:off x="4751246" y="3388375"/>
            <a:ext cx="3436200" cy="6525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dataFrame[rows, columns]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2"/>
          <p:cNvSpPr txBox="1"/>
          <p:nvPr/>
        </p:nvSpPr>
        <p:spPr>
          <a:xfrm>
            <a:off x="774870" y="4040875"/>
            <a:ext cx="17451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Access by name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2"/>
          <p:cNvSpPr txBox="1"/>
          <p:nvPr/>
        </p:nvSpPr>
        <p:spPr>
          <a:xfrm>
            <a:off x="4751246" y="4040875"/>
            <a:ext cx="2043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Access by row &amp; col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2"/>
          <p:cNvSpPr txBox="1"/>
          <p:nvPr/>
        </p:nvSpPr>
        <p:spPr>
          <a:xfrm>
            <a:off x="4781325" y="4542033"/>
            <a:ext cx="41466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135307"/>
                </a:solidFill>
                <a:latin typeface="Lexend"/>
                <a:ea typeface="Lexend"/>
                <a:cs typeface="Lexend"/>
                <a:sym typeface="Lexend"/>
              </a:rPr>
              <a:t>Important: R starts indexing with 1, not 0</a:t>
            </a:r>
            <a:endParaRPr i="1">
              <a:solidFill>
                <a:srgbClr val="135307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2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3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</a:t>
            </a: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632450" y="1969941"/>
            <a:ext cx="228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Selecting Rows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4612050" y="1969941"/>
            <a:ext cx="2137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Selecting Cols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714725" y="2395341"/>
            <a:ext cx="4007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my_data[my_data$col_name &gt; value</a:t>
            </a:r>
            <a:r>
              <a:rPr b="1"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694325" y="2415280"/>
            <a:ext cx="4007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y_data[,c(“col1”, “col2”)]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3" name="Google Shape;203;p23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3"/>
          <p:cNvSpPr txBox="1"/>
          <p:nvPr/>
        </p:nvSpPr>
        <p:spPr>
          <a:xfrm>
            <a:off x="632450" y="1309225"/>
            <a:ext cx="228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Filtering Data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3503112" y="3150600"/>
            <a:ext cx="2137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Using Subset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2054238" y="3568100"/>
            <a:ext cx="50355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df_name &lt;- subset(my_data,col_name&gt; value)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630000" y="1950000"/>
            <a:ext cx="3735000" cy="1005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>
            <a:off x="4487400" y="1950000"/>
            <a:ext cx="3735000" cy="1005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>
            <a:off x="2157300" y="3150600"/>
            <a:ext cx="4742700" cy="10050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16" name="Google Shape;216;p24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4"/>
          <p:cNvSpPr txBox="1"/>
          <p:nvPr/>
        </p:nvSpPr>
        <p:spPr>
          <a:xfrm>
            <a:off x="632450" y="1309225"/>
            <a:ext cx="228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Sorting Data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4"/>
          <p:cNvSpPr txBox="1"/>
          <p:nvPr/>
        </p:nvSpPr>
        <p:spPr>
          <a:xfrm>
            <a:off x="726750" y="1736675"/>
            <a:ext cx="7725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my_data[order(my_data$col1), ]</a:t>
            </a:r>
            <a:endParaRPr sz="1700"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19" name="Google Shape;219;p24"/>
          <p:cNvGraphicFramePr/>
          <p:nvPr/>
        </p:nvGraphicFramePr>
        <p:xfrm>
          <a:off x="1402175" y="285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{41CF4294-7817-49FD-867B-D07433F467E4}</a:tableStyleId>
              </a:tblPr>
              <a:tblGrid>
                <a:gridCol w="930775"/>
                <a:gridCol w="716000"/>
                <a:gridCol w="5966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20" name="Google Shape;220;p24"/>
          <p:cNvSpPr txBox="1"/>
          <p:nvPr/>
        </p:nvSpPr>
        <p:spPr>
          <a:xfrm>
            <a:off x="1702992" y="2341225"/>
            <a:ext cx="175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Original Data</a:t>
            </a:r>
            <a:endParaRPr sz="17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5450167" y="2341225"/>
            <a:ext cx="175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After </a:t>
            </a: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</a:t>
            </a:r>
            <a:endParaRPr sz="17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22" name="Google Shape;222;p24"/>
          <p:cNvGraphicFramePr/>
          <p:nvPr/>
        </p:nvGraphicFramePr>
        <p:xfrm>
          <a:off x="4924675" y="2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{41CF4294-7817-49FD-867B-D07433F467E4}</a:tableStyleId>
              </a:tblPr>
              <a:tblGrid>
                <a:gridCol w="1077825"/>
                <a:gridCol w="829100"/>
                <a:gridCol w="690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5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5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29" name="Google Shape;229;p25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5"/>
          <p:cNvSpPr txBox="1"/>
          <p:nvPr/>
        </p:nvSpPr>
        <p:spPr>
          <a:xfrm>
            <a:off x="632450" y="1309225"/>
            <a:ext cx="228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Sorting Data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5"/>
          <p:cNvSpPr txBox="1"/>
          <p:nvPr/>
        </p:nvSpPr>
        <p:spPr>
          <a:xfrm>
            <a:off x="726750" y="1736675"/>
            <a:ext cx="7725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my_data[order(my_data$col1</a:t>
            </a: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,decreasing=TRUE</a:t>
            </a:r>
            <a:r>
              <a:rPr lang="en" sz="1700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), ]</a:t>
            </a:r>
            <a:endParaRPr sz="1700"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2" name="Google Shape;232;p25"/>
          <p:cNvGraphicFramePr/>
          <p:nvPr/>
        </p:nvGraphicFramePr>
        <p:xfrm>
          <a:off x="1402175" y="2857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{41CF4294-7817-49FD-867B-D07433F467E4}</a:tableStyleId>
              </a:tblPr>
              <a:tblGrid>
                <a:gridCol w="930775"/>
                <a:gridCol w="716000"/>
                <a:gridCol w="5966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233" name="Google Shape;233;p25"/>
          <p:cNvSpPr txBox="1"/>
          <p:nvPr/>
        </p:nvSpPr>
        <p:spPr>
          <a:xfrm>
            <a:off x="1702992" y="2341225"/>
            <a:ext cx="175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Original Data</a:t>
            </a:r>
            <a:endParaRPr sz="17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/>
        </p:nvSpPr>
        <p:spPr>
          <a:xfrm>
            <a:off x="5450167" y="2341225"/>
            <a:ext cx="1754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After Data</a:t>
            </a:r>
            <a:endParaRPr sz="17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235" name="Google Shape;235;p25"/>
          <p:cNvGraphicFramePr/>
          <p:nvPr/>
        </p:nvGraphicFramePr>
        <p:xfrm>
          <a:off x="4924675" y="280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{41CF4294-7817-49FD-867B-D07433F467E4}</a:tableStyleId>
              </a:tblPr>
              <a:tblGrid>
                <a:gridCol w="1077825"/>
                <a:gridCol w="829100"/>
                <a:gridCol w="690925"/>
              </a:tblGrid>
              <a:tr h="1905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name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col1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Chris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90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19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80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21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Anna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75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20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60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22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6"/>
          <p:cNvSpPr/>
          <p:nvPr/>
        </p:nvSpPr>
        <p:spPr>
          <a:xfrm>
            <a:off x="684900" y="3398100"/>
            <a:ext cx="6215100" cy="996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>
            <a:off x="684900" y="1892475"/>
            <a:ext cx="6215100" cy="1257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45A6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2" name="Google Shape;242;p26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6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4" name="Google Shape;244;p26"/>
          <p:cNvSpPr txBox="1"/>
          <p:nvPr/>
        </p:nvSpPr>
        <p:spPr>
          <a:xfrm>
            <a:off x="809550" y="1892466"/>
            <a:ext cx="2137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Add Columns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5" name="Google Shape;245;p26"/>
          <p:cNvSpPr txBox="1"/>
          <p:nvPr/>
        </p:nvSpPr>
        <p:spPr>
          <a:xfrm>
            <a:off x="891825" y="2337805"/>
            <a:ext cx="40077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my_data$new_col_name &lt;- c(...,...,...,...)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6" name="Google Shape;246;p26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6"/>
          <p:cNvSpPr txBox="1"/>
          <p:nvPr/>
        </p:nvSpPr>
        <p:spPr>
          <a:xfrm>
            <a:off x="632450" y="1309225"/>
            <a:ext cx="5945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Adding </a:t>
            </a: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Columns</a:t>
            </a: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 to dataframe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6"/>
          <p:cNvSpPr txBox="1"/>
          <p:nvPr/>
        </p:nvSpPr>
        <p:spPr>
          <a:xfrm>
            <a:off x="809562" y="3443100"/>
            <a:ext cx="2137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Add Rows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6"/>
          <p:cNvSpPr txBox="1"/>
          <p:nvPr/>
        </p:nvSpPr>
        <p:spPr>
          <a:xfrm>
            <a:off x="874500" y="3815600"/>
            <a:ext cx="6215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my_data[nrow(my_data) + 1] &lt;- c(“value”, value,...)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0" name="Google Shape;250;p26"/>
          <p:cNvSpPr txBox="1"/>
          <p:nvPr/>
        </p:nvSpPr>
        <p:spPr>
          <a:xfrm>
            <a:off x="891825" y="2634600"/>
            <a:ext cx="56856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my_data$new_col_name &lt;- my_data$col1 + my_data$col2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7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7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57" name="Google Shape;257;p27"/>
          <p:cNvSpPr txBox="1"/>
          <p:nvPr/>
        </p:nvSpPr>
        <p:spPr>
          <a:xfrm>
            <a:off x="851150" y="2571750"/>
            <a:ext cx="16314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	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f 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	else..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else…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elseif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else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8" name="Google Shape;258;p27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7"/>
          <p:cNvSpPr txBox="1"/>
          <p:nvPr/>
        </p:nvSpPr>
        <p:spPr>
          <a:xfrm>
            <a:off x="632450" y="1309225"/>
            <a:ext cx="5945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Adding Conditions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0" name="Google Shape;260;p27"/>
          <p:cNvSpPr txBox="1"/>
          <p:nvPr/>
        </p:nvSpPr>
        <p:spPr>
          <a:xfrm>
            <a:off x="851150" y="2055750"/>
            <a:ext cx="1231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Python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1" name="Google Shape;261;p27"/>
          <p:cNvSpPr txBox="1"/>
          <p:nvPr/>
        </p:nvSpPr>
        <p:spPr>
          <a:xfrm>
            <a:off x="3478550" y="2055750"/>
            <a:ext cx="1231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2" name="Google Shape;262;p27"/>
          <p:cNvSpPr txBox="1"/>
          <p:nvPr/>
        </p:nvSpPr>
        <p:spPr>
          <a:xfrm>
            <a:off x="3478550" y="2571750"/>
            <a:ext cx="1631400" cy="170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if..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	if 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	else..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	else…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elseif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else …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63" name="Google Shape;263;p27"/>
          <p:cNvCxnSpPr/>
          <p:nvPr/>
        </p:nvCxnSpPr>
        <p:spPr>
          <a:xfrm flipH="1" rot="10800000">
            <a:off x="3495000" y="3862500"/>
            <a:ext cx="742500" cy="15000"/>
          </a:xfrm>
          <a:prstGeom prst="straightConnector1">
            <a:avLst/>
          </a:prstGeom>
          <a:noFill/>
          <a:ln cap="flat" cmpd="sng" w="19050">
            <a:solidFill>
              <a:srgbClr val="188038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4" name="Google Shape;264;p27"/>
          <p:cNvSpPr txBox="1"/>
          <p:nvPr/>
        </p:nvSpPr>
        <p:spPr>
          <a:xfrm>
            <a:off x="5541350" y="2469150"/>
            <a:ext cx="29616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ifelse(condition,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5" name="Google Shape;265;p27"/>
          <p:cNvSpPr txBox="1"/>
          <p:nvPr/>
        </p:nvSpPr>
        <p:spPr>
          <a:xfrm>
            <a:off x="5541350" y="2132475"/>
            <a:ext cx="2782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Basic if else: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0" name="Google Shape;270;p28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8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Manipulation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2" name="Google Shape;272;p28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8"/>
          <p:cNvSpPr txBox="1"/>
          <p:nvPr/>
        </p:nvSpPr>
        <p:spPr>
          <a:xfrm>
            <a:off x="632450" y="1309225"/>
            <a:ext cx="5945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Adding Conditions</a:t>
            </a:r>
            <a:endParaRPr b="1"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8"/>
          <p:cNvSpPr txBox="1"/>
          <p:nvPr/>
        </p:nvSpPr>
        <p:spPr>
          <a:xfrm>
            <a:off x="846350" y="2138500"/>
            <a:ext cx="7373700" cy="57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ifelse(condition,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ifelse(condition,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ifelse(condition,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value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))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8"/>
          <p:cNvSpPr txBox="1"/>
          <p:nvPr/>
        </p:nvSpPr>
        <p:spPr>
          <a:xfrm>
            <a:off x="756350" y="1757500"/>
            <a:ext cx="27828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Nested </a:t>
            </a: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if else: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8"/>
          <p:cNvSpPr txBox="1"/>
          <p:nvPr/>
        </p:nvSpPr>
        <p:spPr>
          <a:xfrm>
            <a:off x="846350" y="2761000"/>
            <a:ext cx="7846200" cy="1064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Eg.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ifelse(weather$temperature &gt;= 30,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"Hot"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ifelse(weather$temperature &gt;= 20,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"Warm"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ifelse(weather$temperature &gt;= 10, </a:t>
            </a:r>
            <a:r>
              <a:rPr lang="en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"Cool"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lang="en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"Cold"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)))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9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82" name="Google Shape;282;p29"/>
          <p:cNvSpPr txBox="1"/>
          <p:nvPr/>
        </p:nvSpPr>
        <p:spPr>
          <a:xfrm>
            <a:off x="473275" y="529450"/>
            <a:ext cx="25131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Recap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3" name="Google Shape;283;p29"/>
          <p:cNvSpPr/>
          <p:nvPr/>
        </p:nvSpPr>
        <p:spPr>
          <a:xfrm>
            <a:off x="826300" y="18745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Creating Dataframes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9"/>
          <p:cNvSpPr/>
          <p:nvPr/>
        </p:nvSpPr>
        <p:spPr>
          <a:xfrm>
            <a:off x="3315450" y="1874600"/>
            <a:ext cx="25131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Access/View the Data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5" name="Google Shape;285;p29"/>
          <p:cNvSpPr/>
          <p:nvPr/>
        </p:nvSpPr>
        <p:spPr>
          <a:xfrm>
            <a:off x="6167475" y="18390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Filter Data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6" name="Google Shape;286;p29"/>
          <p:cNvSpPr/>
          <p:nvPr/>
        </p:nvSpPr>
        <p:spPr>
          <a:xfrm>
            <a:off x="826300" y="30609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Sort Data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7" name="Google Shape;287;p29"/>
          <p:cNvSpPr/>
          <p:nvPr/>
        </p:nvSpPr>
        <p:spPr>
          <a:xfrm>
            <a:off x="3315450" y="3120775"/>
            <a:ext cx="25131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Add new data to 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existing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 frame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88" name="Google Shape;288;p29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09864" y="744575"/>
            <a:ext cx="1031136" cy="84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9"/>
          <p:cNvSpPr/>
          <p:nvPr/>
        </p:nvSpPr>
        <p:spPr>
          <a:xfrm>
            <a:off x="6167475" y="3120775"/>
            <a:ext cx="2043600" cy="8406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Add conditions to format data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Google Shape;294;p30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0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Challenges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693875" y="1833000"/>
            <a:ext cx="61386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students &lt;- data.frame(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hours_studied = c(2,4,5,3,6,8,7,1,9,4),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attendance = c(60,75,80,65,90,95,85,50,100,70),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  exam_score = c(50,65,70,55,85,92,88,40,95,68)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)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/>
          </a:p>
        </p:txBody>
      </p:sp>
      <p:sp>
        <p:nvSpPr>
          <p:cNvPr id="297" name="Google Shape;297;p30"/>
          <p:cNvSpPr txBox="1"/>
          <p:nvPr/>
        </p:nvSpPr>
        <p:spPr>
          <a:xfrm>
            <a:off x="648952" y="1333575"/>
            <a:ext cx="2198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Main Dataset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8" name="Google Shape;298;p30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31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1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Challenges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5" name="Google Shape;305;p31"/>
          <p:cNvSpPr txBox="1"/>
          <p:nvPr/>
        </p:nvSpPr>
        <p:spPr>
          <a:xfrm>
            <a:off x="693875" y="1833000"/>
            <a:ext cx="452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1"/>
          <p:cNvSpPr txBox="1"/>
          <p:nvPr/>
        </p:nvSpPr>
        <p:spPr>
          <a:xfrm>
            <a:off x="648952" y="1333575"/>
            <a:ext cx="2198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Questions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7" name="Google Shape;307;p31"/>
          <p:cNvSpPr txBox="1"/>
          <p:nvPr/>
        </p:nvSpPr>
        <p:spPr>
          <a:xfrm>
            <a:off x="693875" y="1833000"/>
            <a:ext cx="68568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Find students who studied more than 6 hours.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Find students with attendance below 70%.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Find students who: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Studied more than 5 hours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AND scored above 80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Create a column called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score_per_hour = exam_score / hours_studied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AutoNum type="alphaLcPeriod"/>
            </a:pPr>
            <a:r>
              <a:rPr lang="en"/>
              <a:t>grade where “A</a:t>
            </a:r>
            <a:r>
              <a:rPr lang="en">
                <a:solidFill>
                  <a:schemeClr val="dk1"/>
                </a:solidFill>
              </a:rPr>
              <a:t>” </a:t>
            </a:r>
            <a:r>
              <a:rPr lang="en"/>
              <a:t>if score ≥ 85, “B” if score 70–84, “C” if score &lt; 70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Sort students by highest exam score.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Sort by lowest attendance.</a:t>
            </a:r>
            <a:endParaRPr/>
          </a:p>
        </p:txBody>
      </p:sp>
      <p:pic>
        <p:nvPicPr>
          <p:cNvPr id="308" name="Google Shape;308;p31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32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32"/>
          <p:cNvSpPr txBox="1"/>
          <p:nvPr/>
        </p:nvSpPr>
        <p:spPr>
          <a:xfrm>
            <a:off x="1630300" y="2571750"/>
            <a:ext cx="5699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Visualisation</a:t>
            </a:r>
            <a:endParaRPr b="1" sz="52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2"/>
          <p:cNvSpPr txBox="1"/>
          <p:nvPr/>
        </p:nvSpPr>
        <p:spPr>
          <a:xfrm>
            <a:off x="2290675" y="1390950"/>
            <a:ext cx="3855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03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16" name="Google Shape;316;p32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3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3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Analysis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3" name="Google Shape;323;p33"/>
          <p:cNvSpPr/>
          <p:nvPr/>
        </p:nvSpPr>
        <p:spPr>
          <a:xfrm>
            <a:off x="2160875" y="235757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ean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3"/>
          <p:cNvSpPr/>
          <p:nvPr/>
        </p:nvSpPr>
        <p:spPr>
          <a:xfrm>
            <a:off x="2735400" y="3150475"/>
            <a:ext cx="14592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median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3941963" y="2403413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sd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33"/>
          <p:cNvSpPr/>
          <p:nvPr/>
        </p:nvSpPr>
        <p:spPr>
          <a:xfrm>
            <a:off x="4699771" y="315047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sum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33"/>
          <p:cNvSpPr txBox="1"/>
          <p:nvPr/>
        </p:nvSpPr>
        <p:spPr>
          <a:xfrm>
            <a:off x="1617300" y="1656375"/>
            <a:ext cx="25773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Descriptive Stats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8" name="Google Shape;328;p33"/>
          <p:cNvSpPr txBox="1"/>
          <p:nvPr/>
        </p:nvSpPr>
        <p:spPr>
          <a:xfrm>
            <a:off x="3941975" y="1656375"/>
            <a:ext cx="31584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Gives you values from a col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9" name="Google Shape;329;p33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33"/>
          <p:cNvSpPr/>
          <p:nvPr/>
        </p:nvSpPr>
        <p:spPr>
          <a:xfrm>
            <a:off x="5723071" y="2403425"/>
            <a:ext cx="1220400" cy="516000"/>
          </a:xfrm>
          <a:prstGeom prst="roundRect">
            <a:avLst>
              <a:gd fmla="val 16667" name="adj"/>
            </a:avLst>
          </a:prstGeom>
          <a:solidFill>
            <a:srgbClr val="45A634"/>
          </a:solidFill>
          <a:ln cap="flat" cmpd="sng" w="9525">
            <a:solidFill>
              <a:srgbClr val="13530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cor</a:t>
            </a:r>
            <a:r>
              <a:rPr lang="en" sz="1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()</a:t>
            </a:r>
            <a:endParaRPr sz="1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34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4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Visualisation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4"/>
          <p:cNvSpPr txBox="1"/>
          <p:nvPr/>
        </p:nvSpPr>
        <p:spPr>
          <a:xfrm>
            <a:off x="676500" y="1350700"/>
            <a:ext cx="7791000" cy="3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Frequency Tables: Use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table(dataframe$column) </a:t>
            </a:r>
            <a:endParaRPr>
              <a:solidFill>
                <a:srgbClr val="1A1A1A"/>
              </a:solidFill>
              <a:highlight>
                <a:srgbClr val="CCCCCC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to quickly see the distribution o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categorical data.</a:t>
            </a:r>
            <a:endParaRPr>
              <a:solidFill>
                <a:srgbClr val="1A1A1A"/>
              </a:solidFill>
              <a:highlight>
                <a:srgbClr val="CCCCCC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The Power of ggplot2: The gold standard for R visualization. 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Syntax: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ggplot (data, aes(x, y)) + geom_type().</a:t>
            </a:r>
            <a:endParaRPr>
              <a:solidFill>
                <a:srgbClr val="1A1A1A"/>
              </a:solidFill>
              <a:highlight>
                <a:srgbClr val="CCCCCC"/>
              </a:highlight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Scatter Plots: Use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geom_point() 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to see relationships between variables.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Histograms: Use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geom_histogram()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 to view the distribution of a single variable.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Descriptive Stats Visualised: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Lexend"/>
              <a:buChar char="-"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Box Plots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: Use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geom_boxplot()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 to identify outliers and quartiles.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8" name="Google Shape;338;p34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3" name="Google Shape;343;p35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35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Data Visualisation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5" name="Google Shape;345;p35"/>
          <p:cNvSpPr txBox="1"/>
          <p:nvPr/>
        </p:nvSpPr>
        <p:spPr>
          <a:xfrm>
            <a:off x="676500" y="1350700"/>
            <a:ext cx="7791000" cy="321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35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9375" y="1493948"/>
            <a:ext cx="2825500" cy="2443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35"/>
          <p:cNvPicPr preferRelativeResize="0"/>
          <p:nvPr/>
        </p:nvPicPr>
        <p:blipFill rotWithShape="1">
          <a:blip r:embed="rId6">
            <a:alphaModFix/>
          </a:blip>
          <a:srcRect b="0" l="4388" r="0" t="5988"/>
          <a:stretch/>
        </p:blipFill>
        <p:spPr>
          <a:xfrm>
            <a:off x="3277425" y="2482500"/>
            <a:ext cx="2281776" cy="1899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5"/>
          <p:cNvPicPr preferRelativeResize="0"/>
          <p:nvPr/>
        </p:nvPicPr>
        <p:blipFill rotWithShape="1">
          <a:blip r:embed="rId7">
            <a:alphaModFix/>
          </a:blip>
          <a:srcRect b="2286" l="0" r="0" t="5155"/>
          <a:stretch/>
        </p:blipFill>
        <p:spPr>
          <a:xfrm>
            <a:off x="4939525" y="1098100"/>
            <a:ext cx="2160850" cy="175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oogle Shape;354;p36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6"/>
          <p:cNvSpPr txBox="1"/>
          <p:nvPr/>
        </p:nvSpPr>
        <p:spPr>
          <a:xfrm>
            <a:off x="1630300" y="2571750"/>
            <a:ext cx="5699100" cy="976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2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Making a Model</a:t>
            </a:r>
            <a:endParaRPr b="1" sz="52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6"/>
          <p:cNvSpPr txBox="1"/>
          <p:nvPr/>
        </p:nvSpPr>
        <p:spPr>
          <a:xfrm>
            <a:off x="2290675" y="1390950"/>
            <a:ext cx="3855300" cy="118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6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04</a:t>
            </a:r>
            <a:endParaRPr b="1" sz="6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57" name="Google Shape;357;p36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2" name="Google Shape;362;p37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7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Linear Regression Model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7"/>
          <p:cNvSpPr txBox="1"/>
          <p:nvPr/>
        </p:nvSpPr>
        <p:spPr>
          <a:xfrm>
            <a:off x="676500" y="1724600"/>
            <a:ext cx="7791000" cy="236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The lm() Function: Use </a:t>
            </a: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model &lt;- lm(y ~ x, data = dataset)</a:t>
            </a: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 where y is the dependent variable and x is the independent variable.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Practical Example: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highlight>
                  <a:srgbClr val="CCCCCC"/>
                </a:highlight>
                <a:latin typeface="Lexend"/>
                <a:ea typeface="Lexend"/>
                <a:cs typeface="Lexend"/>
                <a:sym typeface="Lexend"/>
              </a:rPr>
              <a:t>fit &lt;- lm(exam_score ~ hours_studied, data = students)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Checking the Model: Use summary(fit) to see the R-squared value and P-values.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Plotting the Trend: Use abline(fit) to add the regression line to a standard plot.</a:t>
            </a:r>
            <a:endParaRPr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5" name="Google Shape;365;p37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38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38"/>
          <p:cNvSpPr txBox="1"/>
          <p:nvPr/>
        </p:nvSpPr>
        <p:spPr>
          <a:xfrm>
            <a:off x="473275" y="529450"/>
            <a:ext cx="53319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Challenges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2" name="Google Shape;372;p38"/>
          <p:cNvSpPr txBox="1"/>
          <p:nvPr/>
        </p:nvSpPr>
        <p:spPr>
          <a:xfrm>
            <a:off x="693875" y="1833000"/>
            <a:ext cx="4524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students &lt;- data.frame(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hours_studied = c(2,4,5,3,6,8,7,1,9,4),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attendance = c(60,75,80,65,90,95,85,50,100,70),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exam_score = c(50,65,70,55,85,92,88,40,95,68)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38"/>
          <p:cNvSpPr txBox="1"/>
          <p:nvPr/>
        </p:nvSpPr>
        <p:spPr>
          <a:xfrm>
            <a:off x="648952" y="1333575"/>
            <a:ext cx="2198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Main Dataset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74" name="Google Shape;374;p38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" name="Google Shape;379;p39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39"/>
          <p:cNvSpPr txBox="1"/>
          <p:nvPr/>
        </p:nvSpPr>
        <p:spPr>
          <a:xfrm>
            <a:off x="473275" y="529450"/>
            <a:ext cx="2731200" cy="652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0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Challenges</a:t>
            </a:r>
            <a:endParaRPr b="1" sz="30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693875" y="1833000"/>
            <a:ext cx="4524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39"/>
          <p:cNvSpPr txBox="1"/>
          <p:nvPr/>
        </p:nvSpPr>
        <p:spPr>
          <a:xfrm>
            <a:off x="648952" y="1333575"/>
            <a:ext cx="2198100" cy="51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>
                <a:solidFill>
                  <a:srgbClr val="45A634"/>
                </a:solidFill>
                <a:latin typeface="Lexend"/>
                <a:ea typeface="Lexend"/>
                <a:cs typeface="Lexend"/>
                <a:sym typeface="Lexend"/>
              </a:rPr>
              <a:t>Questions</a:t>
            </a:r>
            <a:endParaRPr sz="2100">
              <a:solidFill>
                <a:srgbClr val="45A63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939075" y="1940700"/>
            <a:ext cx="68568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Create a scatter plot of Hours Studied vs. Exam Score using plot() or ggplot2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Fit a linear model to see if hours_studied predicts exam_score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"/>
              <a:t>Find the R-squared value, how much of the grade is actually explained by study time?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4" name="Google Shape;384;p39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40"/>
          <p:cNvSpPr/>
          <p:nvPr/>
        </p:nvSpPr>
        <p:spPr>
          <a:xfrm>
            <a:off x="0" y="1878150"/>
            <a:ext cx="9144000" cy="1474800"/>
          </a:xfrm>
          <a:prstGeom prst="rect">
            <a:avLst/>
          </a:prstGeom>
          <a:solidFill>
            <a:srgbClr val="45A63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40"/>
          <p:cNvSpPr txBox="1"/>
          <p:nvPr/>
        </p:nvSpPr>
        <p:spPr>
          <a:xfrm>
            <a:off x="574600" y="2027000"/>
            <a:ext cx="81177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300">
                <a:solidFill>
                  <a:srgbClr val="F6F6F6"/>
                </a:solidFill>
                <a:latin typeface="Lexend"/>
                <a:ea typeface="Lexend"/>
                <a:cs typeface="Lexend"/>
                <a:sym typeface="Lexend"/>
              </a:rPr>
              <a:t>Thank You For Attending!</a:t>
            </a:r>
            <a:endParaRPr b="1" sz="4300">
              <a:solidFill>
                <a:srgbClr val="F6F6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1" name="Google Shape;391;p40"/>
          <p:cNvSpPr txBox="1"/>
          <p:nvPr/>
        </p:nvSpPr>
        <p:spPr>
          <a:xfrm>
            <a:off x="2086000" y="3592552"/>
            <a:ext cx="5094900" cy="4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1A1A1A"/>
                </a:solidFill>
                <a:latin typeface="Lexend"/>
                <a:ea typeface="Lexend"/>
                <a:cs typeface="Lexend"/>
                <a:sym typeface="Lexend"/>
              </a:rPr>
              <a:t>Any Questions?</a:t>
            </a:r>
            <a:endParaRPr sz="2000">
              <a:solidFill>
                <a:srgbClr val="1A1A1A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92" name="Google Shape;392;p40"/>
          <p:cNvPicPr preferRelativeResize="0"/>
          <p:nvPr/>
        </p:nvPicPr>
        <p:blipFill rotWithShape="1">
          <a:blip r:embed="rId3">
            <a:alphaModFix/>
          </a:blip>
          <a:srcRect b="15523" l="0" r="0" t="15516"/>
          <a:stretch/>
        </p:blipFill>
        <p:spPr>
          <a:xfrm>
            <a:off x="7100376" y="0"/>
            <a:ext cx="2043622" cy="74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93" name="Google Shape;393;p40" title="Data Science Society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2525" y="744575"/>
            <a:ext cx="1118476" cy="911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1500">
        <p:pu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